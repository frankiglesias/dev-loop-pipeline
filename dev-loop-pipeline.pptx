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4"/>
    <p:sldId id="269" r:id="rId20"/>
    <p:sldId id="270" r:id="rId21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457200"/>
            <a:ext cx="2560320" cy="25603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"/>
            <a:ext cx="1828800" cy="1828800"/>
          </a:xfrm>
          <a:prstGeom prst="ellipse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dev-loop-pipeline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0292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Five-Skill AI Pipeline for the Feature Dev Loop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572768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spec-freeze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29968" y="320040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67128" y="3200400"/>
            <a:ext cx="1572768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67128" y="32004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impl-scout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39896" y="320040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77056" y="3200400"/>
            <a:ext cx="1572768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32004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code-write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49824" y="320040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86984" y="3200400"/>
            <a:ext cx="1572768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32004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qa-gate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59752" y="3200400"/>
            <a:ext cx="137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96912" y="3200400"/>
            <a:ext cx="1572768" cy="402336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32004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pr-package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 ·  TypeScript 5  ·  Bun  ·  Multi-provider LLM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Dev Loops Break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 this pipeline was built to close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27432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5087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8912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 Drift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8912" y="23408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channels fracture the spec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2688336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says one thing. Slack says another. The Loom says "keep it simple." Three engineers in the same call have three different mental models of done.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4389120"/>
            <a:ext cx="1417320" cy="27432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4389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spec-freeze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325880"/>
            <a:ext cx="274320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32588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5087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19272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Theater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319272" y="23408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is green. The feature is wrong.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19272" y="2688336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test verifies a 200 response. TypeScript compiles. The unread badge doesn't decrement. Nobody tested the Zustand store — and nobody noticed until users complained.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9272" y="4389120"/>
            <a:ext cx="141732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4389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qa-gate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325880"/>
            <a:ext cx="274320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32588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5087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199632" y="19933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Follow-Ups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99632" y="23408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comments → promises → nothing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99632" y="2688336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create a follow-up ticket." PR approved. Six months later, the midnight boundary bug triggers an on-call incident. No ticket was ever created.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9632" y="4389120"/>
            <a:ext cx="1417320" cy="27432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4389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pr-package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Skills. One Responsibility Each.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is independently invocable. The orchestration is the architecture.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64008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2344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spec-freeze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06040" y="1234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ticket into a frozen, verifiable spec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1371600"/>
            <a:ext cx="1463040" cy="32004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FrozenSpec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8595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38528"/>
            <a:ext cx="64008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385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9385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impl-scout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06040" y="193852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codebase and produce an implementation map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2075688"/>
            <a:ext cx="1463040" cy="32004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075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ImplMap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5328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642616"/>
            <a:ext cx="8595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642616"/>
            <a:ext cx="6400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642616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264261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code-write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06040" y="264261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code; return file contents + per-file summaries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2779776"/>
            <a:ext cx="1463040" cy="32004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27797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CodeSummary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2369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3346704"/>
            <a:ext cx="8595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346704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346704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34670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qa-gate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606040" y="334670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acceptance criterion against the written code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0" y="3483864"/>
            <a:ext cx="1463040" cy="32004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34838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QaReport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39410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↓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4050792"/>
            <a:ext cx="859536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050792"/>
            <a:ext cx="64008" cy="594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050792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050792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pr-package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2606040" y="40507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PR description + explicit typed follow-ups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0" y="4187952"/>
            <a:ext cx="1463040" cy="320040"/>
          </a:xfrm>
          <a:prstGeom prst="rect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4187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PrPackage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Is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is a deliberate compression decision — one file to audit: stepAdapters.ts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85953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13350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spec-freeze  →  impl-scout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8912" y="16276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SENDS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FrozenSpec + repo file tree (gitignore-aware, capped at 200 lines)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57800" y="1627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DROPS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8653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impl-scout needs constraints and out_of_scope to produce a correct file 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85953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267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impl-scout  →  code-write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560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SENDS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files_to_change + patterns + risks + approach_summary + acceptance_criteria + existing file contents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57800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DROPS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spec.goal  ·  spec.constraints  ·  spec.out_of_scope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798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Re-sending them lets code-write rationalize constraint violations instead of following the plan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127248"/>
            <a:ext cx="85953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200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code-write  →  qa-gate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4930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SENDS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files_changed + changes_made + what_not_done + acceptance_criteria + file contents re-read from disk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57800" y="3493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DROPS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ImplMap entirely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3730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The gate evaluates what was BUILT vs criteria — not plan vs criteria. File contents are re-read from disk.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4059936"/>
            <a:ext cx="85953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1330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qa-gate  →  pr-package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44256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SENDS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QaReport verdict + acceptance_criteria + files_changed + spec.title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57800" y="4425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DROPS  </a:t>
            </a:r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changes_made detail  ·  full ImplMap  ·  full FrozenSpec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A PR description needs the verdict and the file list — not the full implementation history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spec-freeze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spec before you open a single file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ticket text, description, and any notes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single typed JSON artifact with an explicit out_of_scope array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disk as 01-spec.json before any implementation starts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266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downstream skills read from this artifact — not from the original ticket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1129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▸  </a:t>
            </a:r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scope mid-flight: update the frozen spec first, then re-run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420624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188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FrozenSpec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ticket_id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1956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1671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— the "what"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0" y="23408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2340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5511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— the "why"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acceptance_criteria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724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9352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≤8 items, each verifiable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319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limits, cannot change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3456432"/>
            <a:ext cx="4114800" cy="365760"/>
          </a:xfrm>
          <a:prstGeom prst="rect">
            <a:avLst/>
          </a:prstGeom>
          <a:solidFill>
            <a:srgbClr val="14B8A6">
              <a:alpha val="14000"/>
            </a:srgbClr>
          </a:solidFill>
          <a:ln w="12700">
            <a:solidFill>
              <a:srgbClr val="14B8A6">
                <a:alpha val="3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out_of_scope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70332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explicit deferrals — the key field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5486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</a:rPr>
              <a:t>02  impl-scout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Read the codebase before writing a single line</a:t>
            </a:r>
          </a:p>
        </p:txBody>
      </p:sp>
      <p:sp>
        <p:nvSpPr>
          <p:cNvPr id="5" name="WhatItDoes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</a:rPr>
              <a:t>What it does</a:t>
            </a:r>
          </a:p>
        </p:txBody>
      </p:sp>
      <p:sp>
        <p:nvSpPr>
          <p:cNvPr id="6" name="Bullet1"/>
          <p:cNvSpPr/>
          <p:nvPr/>
        </p:nvSpPr>
        <p:spPr>
          <a:xfrm>
            <a:off x="457200" y="15727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Reads the full repo tree (gitignore-aware, 200-line cap) to map the codebase structure</a:t>
            </a:r>
          </a:p>
        </p:txBody>
      </p:sp>
      <p:sp>
        <p:nvSpPr>
          <p:cNvPr id="7" name="Bullet2"/>
          <p:cNvSpPr/>
          <p:nvPr/>
        </p:nvSpPr>
        <p:spPr>
          <a:xfrm>
            <a:off x="457200" y="20574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Decides which files to touch and in what order, grounded in the FrozenSpec</a:t>
            </a:r>
          </a:p>
        </p:txBody>
      </p:sp>
      <p:sp>
        <p:nvSpPr>
          <p:cNvPr id="8" name="Bullet3"/>
          <p:cNvSpPr/>
          <p:nvPr/>
        </p:nvSpPr>
        <p:spPr>
          <a:xfrm>
            <a:off x="457200" y="25420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Surfaces existing patterns to reuse and risks to flag before any code is written</a:t>
            </a:r>
          </a:p>
        </p:txBody>
      </p:sp>
      <p:sp>
        <p:nvSpPr>
          <p:cNvPr id="9" name="Bullet4"/>
          <p:cNvSpPr/>
          <p:nvPr/>
        </p:nvSpPr>
        <p:spPr>
          <a:xfrm>
            <a:off x="457200" y="30266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Carries acceptance_criteria forward from spec-freeze — never re-derives them</a:t>
            </a:r>
          </a:p>
        </p:txBody>
      </p:sp>
      <p:sp>
        <p:nvSpPr>
          <p:cNvPr id="10" name="RightCard"/>
          <p:cNvSpPr/>
          <p:nvPr/>
        </p:nvSpPr>
        <p:spPr>
          <a:xfrm>
            <a:off x="4617720" y="1097280"/>
            <a:ext cx="420624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WhatItReturns"/>
          <p:cNvSpPr/>
          <p:nvPr/>
        </p:nvSpPr>
        <p:spPr>
          <a:xfrm>
            <a:off x="4754880" y="1120000"/>
            <a:ext cx="39319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</a:rPr>
              <a:t>What it returns</a:t>
            </a:r>
          </a:p>
        </p:txBody>
      </p:sp>
      <p:sp>
        <p:nvSpPr>
          <p:cNvPr id="12" name="InterfaceName"/>
          <p:cNvSpPr/>
          <p:nvPr/>
        </p:nvSpPr>
        <p:spPr>
          <a:xfrm>
            <a:off x="4754880" y="1390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urier New" pitchFamily="34" charset="0"/>
              </a:rPr>
              <a:t>interface ImplMap</a:t>
            </a:r>
          </a:p>
        </p:txBody>
      </p:sp>
      <p:sp>
        <p:nvSpPr>
          <p:cNvPr id="13" name="F13Name"/>
          <p:cNvSpPr/>
          <p:nvPr/>
        </p:nvSpPr>
        <p:spPr>
          <a:xfrm>
            <a:off x="4754880" y="1760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files_to_change</a:t>
            </a:r>
          </a:p>
        </p:txBody>
      </p:sp>
      <p:sp>
        <p:nvSpPr>
          <p:cNvPr id="14" name="F14Type"/>
          <p:cNvSpPr/>
          <p:nvPr/>
        </p:nvSpPr>
        <p:spPr>
          <a:xfrm>
            <a:off x="6720840" y="1760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FileChange[]</a:t>
            </a:r>
          </a:p>
        </p:txBody>
      </p:sp>
      <p:sp>
        <p:nvSpPr>
          <p:cNvPr id="15" name="F15Desc"/>
          <p:cNvSpPr/>
          <p:nvPr/>
        </p:nvSpPr>
        <p:spPr>
          <a:xfrm>
            <a:off x="4754880" y="19703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path, action, layer, reason</a:t>
            </a:r>
          </a:p>
        </p:txBody>
      </p:sp>
      <p:sp>
        <p:nvSpPr>
          <p:cNvPr id="16" name="F16Name"/>
          <p:cNvSpPr/>
          <p:nvPr/>
        </p:nvSpPr>
        <p:spPr>
          <a:xfrm>
            <a:off x="4754880" y="2144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patterns_to_follow</a:t>
            </a:r>
          </a:p>
        </p:txBody>
      </p:sp>
      <p:sp>
        <p:nvSpPr>
          <p:cNvPr id="17" name="F17Type"/>
          <p:cNvSpPr/>
          <p:nvPr/>
        </p:nvSpPr>
        <p:spPr>
          <a:xfrm>
            <a:off x="6720840" y="214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Pattern[]</a:t>
            </a:r>
          </a:p>
        </p:txBody>
      </p:sp>
      <p:sp>
        <p:nvSpPr>
          <p:cNvPr id="18" name="F18Desc"/>
          <p:cNvSpPr/>
          <p:nvPr/>
        </p:nvSpPr>
        <p:spPr>
          <a:xfrm>
            <a:off x="4754880" y="23543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name + real example file path</a:t>
            </a:r>
          </a:p>
        </p:txBody>
      </p:sp>
      <p:sp>
        <p:nvSpPr>
          <p:cNvPr id="19" name="F19Name"/>
          <p:cNvSpPr/>
          <p:nvPr/>
        </p:nvSpPr>
        <p:spPr>
          <a:xfrm>
            <a:off x="4754880" y="2528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risks</a:t>
            </a:r>
          </a:p>
        </p:txBody>
      </p:sp>
      <p:sp>
        <p:nvSpPr>
          <p:cNvPr id="20" name="F20Type"/>
          <p:cNvSpPr/>
          <p:nvPr/>
        </p:nvSpPr>
        <p:spPr>
          <a:xfrm>
            <a:off x="6720840" y="2528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Risk[]</a:t>
            </a:r>
          </a:p>
        </p:txBody>
      </p:sp>
      <p:sp>
        <p:nvSpPr>
          <p:cNvPr id="21" name="F21Desc"/>
          <p:cNvSpPr/>
          <p:nvPr/>
        </p:nvSpPr>
        <p:spPr>
          <a:xfrm>
            <a:off x="4754880" y="27384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description + mitigation</a:t>
            </a:r>
          </a:p>
        </p:txBody>
      </p:sp>
      <p:sp>
        <p:nvSpPr>
          <p:cNvPr id="22" name="F22Name"/>
          <p:cNvSpPr/>
          <p:nvPr/>
        </p:nvSpPr>
        <p:spPr>
          <a:xfrm>
            <a:off x="4754880" y="29121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approach_summary</a:t>
            </a:r>
          </a:p>
        </p:txBody>
      </p:sp>
      <p:sp>
        <p:nvSpPr>
          <p:cNvPr id="23" name="F23Type"/>
          <p:cNvSpPr/>
          <p:nvPr/>
        </p:nvSpPr>
        <p:spPr>
          <a:xfrm>
            <a:off x="6720840" y="29121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string</a:t>
            </a:r>
          </a:p>
        </p:txBody>
      </p:sp>
      <p:sp>
        <p:nvSpPr>
          <p:cNvPr id="24" name="F24Desc"/>
          <p:cNvSpPr/>
          <p:nvPr/>
        </p:nvSpPr>
        <p:spPr>
          <a:xfrm>
            <a:off x="4754880" y="31224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≤3 sentences</a:t>
            </a:r>
          </a:p>
        </p:txBody>
      </p:sp>
      <p:sp>
        <p:nvSpPr>
          <p:cNvPr id="25" name="F25Name"/>
          <p:cNvSpPr/>
          <p:nvPr/>
        </p:nvSpPr>
        <p:spPr>
          <a:xfrm>
            <a:off x="4754880" y="329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acceptance_criteria</a:t>
            </a:r>
          </a:p>
        </p:txBody>
      </p:sp>
      <p:sp>
        <p:nvSpPr>
          <p:cNvPr id="26" name="F26Type"/>
          <p:cNvSpPr/>
          <p:nvPr/>
        </p:nvSpPr>
        <p:spPr>
          <a:xfrm>
            <a:off x="6720840" y="3296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string[]</a:t>
            </a:r>
          </a:p>
        </p:txBody>
      </p:sp>
      <p:sp>
        <p:nvSpPr>
          <p:cNvPr id="27" name="F27Desc"/>
          <p:cNvSpPr/>
          <p:nvPr/>
        </p:nvSpPr>
        <p:spPr>
          <a:xfrm>
            <a:off x="4754880" y="35065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carried from FrozenSpec — never lost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5486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</a:rPr>
              <a:t>03  code-write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Write the code — then write the actual files to disk</a:t>
            </a:r>
          </a:p>
        </p:txBody>
      </p:sp>
      <p:sp>
        <p:nvSpPr>
          <p:cNvPr id="5" name="WhatItDoes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</a:rPr>
              <a:t>What it does</a:t>
            </a:r>
          </a:p>
        </p:txBody>
      </p:sp>
      <p:sp>
        <p:nvSpPr>
          <p:cNvPr id="6" name="Bullet1"/>
          <p:cNvSpPr/>
          <p:nvPr/>
        </p:nvSpPr>
        <p:spPr>
          <a:xfrm>
            <a:off x="457200" y="15727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Receives compressed context from impl-scout — the full spec is intentionally excluded</a:t>
            </a:r>
          </a:p>
        </p:txBody>
      </p:sp>
      <p:sp>
        <p:nvSpPr>
          <p:cNvPr id="7" name="Bullet2"/>
          <p:cNvSpPr/>
          <p:nvPr/>
        </p:nvSpPr>
        <p:spPr>
          <a:xfrm>
            <a:off x="457200" y="20574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Writes every target file and returns complete file contents as structured JSON</a:t>
            </a:r>
          </a:p>
        </p:txBody>
      </p:sp>
      <p:sp>
        <p:nvSpPr>
          <p:cNvPr id="8" name="Bullet3"/>
          <p:cNvSpPr/>
          <p:nvPr/>
        </p:nvSpPr>
        <p:spPr>
          <a:xfrm>
            <a:off x="457200" y="25420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Does NOT call writeFiles() itself — pipe.ts does, so disk is always ground truth</a:t>
            </a:r>
          </a:p>
        </p:txBody>
      </p:sp>
      <p:sp>
        <p:nvSpPr>
          <p:cNvPr id="9" name="Bullet4"/>
          <p:cNvSpPr/>
          <p:nvPr/>
        </p:nvSpPr>
        <p:spPr>
          <a:xfrm>
            <a:off x="457200" y="30266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Records everything it could not complete in what_not_done, forwarded to qa-gate</a:t>
            </a:r>
          </a:p>
        </p:txBody>
      </p:sp>
      <p:sp>
        <p:nvSpPr>
          <p:cNvPr id="10" name="RightCard"/>
          <p:cNvSpPr/>
          <p:nvPr/>
        </p:nvSpPr>
        <p:spPr>
          <a:xfrm>
            <a:off x="4617720" y="1097280"/>
            <a:ext cx="420624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WhatItReturns"/>
          <p:cNvSpPr/>
          <p:nvPr/>
        </p:nvSpPr>
        <p:spPr>
          <a:xfrm>
            <a:off x="4754880" y="1120000"/>
            <a:ext cx="39319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</a:rPr>
              <a:t>What it returns</a:t>
            </a:r>
          </a:p>
        </p:txBody>
      </p:sp>
      <p:sp>
        <p:nvSpPr>
          <p:cNvPr id="12" name="InterfaceName"/>
          <p:cNvSpPr/>
          <p:nvPr/>
        </p:nvSpPr>
        <p:spPr>
          <a:xfrm>
            <a:off x="4754880" y="1390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</a:rPr>
              <a:t>interface CodeSummary</a:t>
            </a:r>
          </a:p>
        </p:txBody>
      </p:sp>
      <p:sp>
        <p:nvSpPr>
          <p:cNvPr id="13" name="F13Name"/>
          <p:cNvSpPr/>
          <p:nvPr/>
        </p:nvSpPr>
        <p:spPr>
          <a:xfrm>
            <a:off x="4754880" y="1760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files_changed</a:t>
            </a:r>
          </a:p>
        </p:txBody>
      </p:sp>
      <p:sp>
        <p:nvSpPr>
          <p:cNvPr id="14" name="F14Type"/>
          <p:cNvSpPr/>
          <p:nvPr/>
        </p:nvSpPr>
        <p:spPr>
          <a:xfrm>
            <a:off x="6720840" y="1760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string[]</a:t>
            </a:r>
          </a:p>
        </p:txBody>
      </p:sp>
      <p:sp>
        <p:nvSpPr>
          <p:cNvPr id="15" name="F15Desc"/>
          <p:cNvSpPr/>
          <p:nvPr/>
        </p:nvSpPr>
        <p:spPr>
          <a:xfrm>
            <a:off x="4754880" y="19703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paths of every file written</a:t>
            </a:r>
          </a:p>
        </p:txBody>
      </p:sp>
      <p:sp>
        <p:nvSpPr>
          <p:cNvPr id="16" name="F16Name"/>
          <p:cNvSpPr/>
          <p:nvPr/>
        </p:nvSpPr>
        <p:spPr>
          <a:xfrm>
            <a:off x="4754880" y="2144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changes_made</a:t>
            </a:r>
          </a:p>
        </p:txBody>
      </p:sp>
      <p:sp>
        <p:nvSpPr>
          <p:cNvPr id="17" name="F17Type"/>
          <p:cNvSpPr/>
          <p:nvPr/>
        </p:nvSpPr>
        <p:spPr>
          <a:xfrm>
            <a:off x="6720840" y="214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Summary[]</a:t>
            </a:r>
          </a:p>
        </p:txBody>
      </p:sp>
      <p:sp>
        <p:nvSpPr>
          <p:cNvPr id="18" name="F18Desc"/>
          <p:cNvSpPr/>
          <p:nvPr/>
        </p:nvSpPr>
        <p:spPr>
          <a:xfrm>
            <a:off x="4754880" y="23543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per-file description of changes</a:t>
            </a:r>
          </a:p>
        </p:txBody>
      </p:sp>
      <p:sp>
        <p:nvSpPr>
          <p:cNvPr id="19" name="F19Name"/>
          <p:cNvSpPr/>
          <p:nvPr/>
        </p:nvSpPr>
        <p:spPr>
          <a:xfrm>
            <a:off x="4754880" y="2528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what_not_done</a:t>
            </a:r>
          </a:p>
        </p:txBody>
      </p:sp>
      <p:sp>
        <p:nvSpPr>
          <p:cNvPr id="20" name="F20Type"/>
          <p:cNvSpPr/>
          <p:nvPr/>
        </p:nvSpPr>
        <p:spPr>
          <a:xfrm>
            <a:off x="6720840" y="2528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string[]</a:t>
            </a:r>
          </a:p>
        </p:txBody>
      </p:sp>
      <p:sp>
        <p:nvSpPr>
          <p:cNvPr id="21" name="F21Desc"/>
          <p:cNvSpPr/>
          <p:nvPr/>
        </p:nvSpPr>
        <p:spPr>
          <a:xfrm>
            <a:off x="4754880" y="27384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forwarded to pr-package as follow-ups</a:t>
            </a:r>
          </a:p>
        </p:txBody>
      </p:sp>
      <p:sp>
        <p:nvSpPr>
          <p:cNvPr id="22" name="F22Name"/>
          <p:cNvSpPr/>
          <p:nvPr/>
        </p:nvSpPr>
        <p:spPr>
          <a:xfrm>
            <a:off x="4754880" y="29121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file_contents</a:t>
            </a:r>
          </a:p>
        </p:txBody>
      </p:sp>
      <p:sp>
        <p:nvSpPr>
          <p:cNvPr id="23" name="F23Type"/>
          <p:cNvSpPr/>
          <p:nvPr/>
        </p:nvSpPr>
        <p:spPr>
          <a:xfrm>
            <a:off x="6720840" y="29121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Record&lt;S, S&gt;</a:t>
            </a:r>
          </a:p>
        </p:txBody>
      </p:sp>
      <p:sp>
        <p:nvSpPr>
          <p:cNvPr id="24" name="F24Desc"/>
          <p:cNvSpPr/>
          <p:nvPr/>
        </p:nvSpPr>
        <p:spPr>
          <a:xfrm>
            <a:off x="4754880" y="31224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full content — written by orchestrator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5486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</a:rPr>
              <a:t>04  qa-gate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Evaluate what was BUILT — not what was planned</a:t>
            </a:r>
          </a:p>
        </p:txBody>
      </p:sp>
      <p:sp>
        <p:nvSpPr>
          <p:cNvPr id="5" name="WhatItDoes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</a:rPr>
              <a:t>What it does</a:t>
            </a:r>
          </a:p>
        </p:txBody>
      </p:sp>
      <p:sp>
        <p:nvSpPr>
          <p:cNvPr id="6" name="Bullet1"/>
          <p:cNvSpPr/>
          <p:nvPr/>
        </p:nvSpPr>
        <p:spPr>
          <a:xfrm>
            <a:off x="457200" y="15727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Re-reads every changed file from disk after code-write runs — not from model claims</a:t>
            </a:r>
          </a:p>
        </p:txBody>
      </p:sp>
      <p:sp>
        <p:nvSpPr>
          <p:cNvPr id="7" name="Bullet2"/>
          <p:cNvSpPr/>
          <p:nvPr/>
        </p:nvSpPr>
        <p:spPr>
          <a:xfrm>
            <a:off x="457200" y="20574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Evaluates each acceptance criterion independently: verified / partial / not-verified</a:t>
            </a:r>
          </a:p>
        </p:txBody>
      </p:sp>
      <p:sp>
        <p:nvSpPr>
          <p:cNvPr id="8" name="Bullet3"/>
          <p:cNvSpPr/>
          <p:nvPr/>
        </p:nvSpPr>
        <p:spPr>
          <a:xfrm>
            <a:off x="457200" y="25420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Never receives the ImplMap — blind to the plan, forced to be honest about the build</a:t>
            </a:r>
          </a:p>
        </p:txBody>
      </p:sp>
      <p:sp>
        <p:nvSpPr>
          <p:cNvPr id="9" name="Bullet4"/>
          <p:cNvSpPr/>
          <p:nvPr/>
        </p:nvSpPr>
        <p:spPr>
          <a:xfrm>
            <a:off x="457200" y="30266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Promotes each partial result and warning into a typed follow_up entry</a:t>
            </a:r>
          </a:p>
        </p:txBody>
      </p:sp>
      <p:sp>
        <p:nvSpPr>
          <p:cNvPr id="10" name="RightCard"/>
          <p:cNvSpPr/>
          <p:nvPr/>
        </p:nvSpPr>
        <p:spPr>
          <a:xfrm>
            <a:off x="4617720" y="1097280"/>
            <a:ext cx="420624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WhatItReturns"/>
          <p:cNvSpPr/>
          <p:nvPr/>
        </p:nvSpPr>
        <p:spPr>
          <a:xfrm>
            <a:off x="4754880" y="1120000"/>
            <a:ext cx="39319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</a:rPr>
              <a:t>What it returns</a:t>
            </a:r>
          </a:p>
        </p:txBody>
      </p:sp>
      <p:sp>
        <p:nvSpPr>
          <p:cNvPr id="12" name="InterfaceName"/>
          <p:cNvSpPr/>
          <p:nvPr/>
        </p:nvSpPr>
        <p:spPr>
          <a:xfrm>
            <a:off x="4754880" y="1390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</a:rPr>
              <a:t>interface QaReport</a:t>
            </a:r>
          </a:p>
        </p:txBody>
      </p:sp>
      <p:sp>
        <p:nvSpPr>
          <p:cNvPr id="13" name="F13Name"/>
          <p:cNvSpPr/>
          <p:nvPr/>
        </p:nvSpPr>
        <p:spPr>
          <a:xfrm>
            <a:off x="4754880" y="1760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verdict</a:t>
            </a:r>
          </a:p>
        </p:txBody>
      </p:sp>
      <p:sp>
        <p:nvSpPr>
          <p:cNvPr id="14" name="F14Type"/>
          <p:cNvSpPr/>
          <p:nvPr/>
        </p:nvSpPr>
        <p:spPr>
          <a:xfrm>
            <a:off x="6720840" y="1760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Verdict</a:t>
            </a:r>
          </a:p>
        </p:txBody>
      </p:sp>
      <p:sp>
        <p:nvSpPr>
          <p:cNvPr id="15" name="F15Desc"/>
          <p:cNvSpPr/>
          <p:nvPr/>
        </p:nvSpPr>
        <p:spPr>
          <a:xfrm>
            <a:off x="4754880" y="19703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passed | failed</a:t>
            </a:r>
          </a:p>
        </p:txBody>
      </p:sp>
      <p:sp>
        <p:nvSpPr>
          <p:cNvPr id="16" name="F16Name"/>
          <p:cNvSpPr/>
          <p:nvPr/>
        </p:nvSpPr>
        <p:spPr>
          <a:xfrm>
            <a:off x="4754880" y="2144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criteria</a:t>
            </a:r>
          </a:p>
        </p:txBody>
      </p:sp>
      <p:sp>
        <p:nvSpPr>
          <p:cNvPr id="17" name="F17Type"/>
          <p:cNvSpPr/>
          <p:nvPr/>
        </p:nvSpPr>
        <p:spPr>
          <a:xfrm>
            <a:off x="6720840" y="214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Criterion[]</a:t>
            </a:r>
          </a:p>
        </p:txBody>
      </p:sp>
      <p:sp>
        <p:nvSpPr>
          <p:cNvPr id="18" name="F18Desc"/>
          <p:cNvSpPr/>
          <p:nvPr/>
        </p:nvSpPr>
        <p:spPr>
          <a:xfrm>
            <a:off x="4754880" y="23543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status + evidence per criterion</a:t>
            </a:r>
          </a:p>
        </p:txBody>
      </p:sp>
      <p:sp>
        <p:nvSpPr>
          <p:cNvPr id="19" name="F19Name"/>
          <p:cNvSpPr/>
          <p:nvPr/>
        </p:nvSpPr>
        <p:spPr>
          <a:xfrm>
            <a:off x="4754880" y="2528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issues</a:t>
            </a:r>
          </a:p>
        </p:txBody>
      </p:sp>
      <p:sp>
        <p:nvSpPr>
          <p:cNvPr id="20" name="F20Type"/>
          <p:cNvSpPr/>
          <p:nvPr/>
        </p:nvSpPr>
        <p:spPr>
          <a:xfrm>
            <a:off x="6720840" y="2528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Issue[]</a:t>
            </a:r>
          </a:p>
        </p:txBody>
      </p:sp>
      <p:sp>
        <p:nvSpPr>
          <p:cNvPr id="21" name="F21Desc"/>
          <p:cNvSpPr/>
          <p:nvPr/>
        </p:nvSpPr>
        <p:spPr>
          <a:xfrm>
            <a:off x="4754880" y="27384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severity: blocker | warning | suggestion</a:t>
            </a:r>
          </a:p>
        </p:txBody>
      </p:sp>
      <p:sp>
        <p:nvSpPr>
          <p:cNvPr id="22" name="F22Name"/>
          <p:cNvSpPr/>
          <p:nvPr/>
        </p:nvSpPr>
        <p:spPr>
          <a:xfrm>
            <a:off x="4754880" y="29121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follow_ups</a:t>
            </a:r>
          </a:p>
        </p:txBody>
      </p:sp>
      <p:sp>
        <p:nvSpPr>
          <p:cNvPr id="23" name="F23Type"/>
          <p:cNvSpPr/>
          <p:nvPr/>
        </p:nvSpPr>
        <p:spPr>
          <a:xfrm>
            <a:off x="6720840" y="29121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FollowUp[]</a:t>
            </a:r>
          </a:p>
        </p:txBody>
      </p:sp>
      <p:sp>
        <p:nvSpPr>
          <p:cNvPr id="24" name="F24Desc"/>
          <p:cNvSpPr/>
          <p:nvPr/>
        </p:nvSpPr>
        <p:spPr>
          <a:xfrm>
            <a:off x="4754880" y="31224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auto-generated from partial + warning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5486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Trebuchet MS" pitchFamily="34" charset="0"/>
              </a:rPr>
              <a:t>05  pr-package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Follow-ups as a typed output — not a comment reply</a:t>
            </a:r>
          </a:p>
        </p:txBody>
      </p:sp>
      <p:sp>
        <p:nvSpPr>
          <p:cNvPr id="5" name="WhatItDoes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</a:rPr>
              <a:t>What it does</a:t>
            </a:r>
          </a:p>
        </p:txBody>
      </p:sp>
      <p:sp>
        <p:nvSpPr>
          <p:cNvPr id="6" name="Bullet1"/>
          <p:cNvSpPr/>
          <p:nvPr/>
        </p:nvSpPr>
        <p:spPr>
          <a:xfrm>
            <a:off x="457200" y="157276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Receives only QaReport verdict, files_changed, and spec.title — nothing else</a:t>
            </a:r>
          </a:p>
        </p:txBody>
      </p:sp>
      <p:sp>
        <p:nvSpPr>
          <p:cNvPr id="7" name="Bullet2"/>
          <p:cNvSpPr/>
          <p:nvPr/>
        </p:nvSpPr>
        <p:spPr>
          <a:xfrm>
            <a:off x="457200" y="20574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Formats the PR title, full markdown body, and file change list</a:t>
            </a:r>
          </a:p>
        </p:txBody>
      </p:sp>
      <p:sp>
        <p:nvSpPr>
          <p:cNvPr id="8" name="Bullet3"/>
          <p:cNvSpPr/>
          <p:nvPr/>
        </p:nvSpPr>
        <p:spPr>
          <a:xfrm>
            <a:off x="457200" y="254203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Collects every partial criterion, warning, and what_not_done into follow_ups</a:t>
            </a:r>
          </a:p>
        </p:txBody>
      </p:sp>
      <p:sp>
        <p:nvSpPr>
          <p:cNvPr id="9" name="Bullet4"/>
          <p:cNvSpPr/>
          <p:nvPr/>
        </p:nvSpPr>
        <p:spPr>
          <a:xfrm>
            <a:off x="457200" y="30266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</a:rPr>
              <a:t xml:space="preserve">▸ 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</a:rPr>
              <a:t>follow_ups is a typed JSON field — it either has entries or has []</a:t>
            </a:r>
          </a:p>
        </p:txBody>
      </p:sp>
      <p:sp>
        <p:nvSpPr>
          <p:cNvPr id="10" name="RightCard"/>
          <p:cNvSpPr/>
          <p:nvPr/>
        </p:nvSpPr>
        <p:spPr>
          <a:xfrm>
            <a:off x="4617720" y="1097280"/>
            <a:ext cx="420624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WhatItReturns"/>
          <p:cNvSpPr/>
          <p:nvPr/>
        </p:nvSpPr>
        <p:spPr>
          <a:xfrm>
            <a:off x="4754880" y="1120000"/>
            <a:ext cx="39319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</a:rPr>
              <a:t>What it returns</a:t>
            </a:r>
          </a:p>
        </p:txBody>
      </p:sp>
      <p:sp>
        <p:nvSpPr>
          <p:cNvPr id="12" name="InterfaceName"/>
          <p:cNvSpPr/>
          <p:nvPr/>
        </p:nvSpPr>
        <p:spPr>
          <a:xfrm>
            <a:off x="4754880" y="1390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urier New" pitchFamily="34" charset="0"/>
              </a:rPr>
              <a:t>interface PrPackage</a:t>
            </a:r>
          </a:p>
        </p:txBody>
      </p:sp>
      <p:sp>
        <p:nvSpPr>
          <p:cNvPr id="13" name="F13Name"/>
          <p:cNvSpPr/>
          <p:nvPr/>
        </p:nvSpPr>
        <p:spPr>
          <a:xfrm>
            <a:off x="4754880" y="1760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pr_title</a:t>
            </a:r>
          </a:p>
        </p:txBody>
      </p:sp>
      <p:sp>
        <p:nvSpPr>
          <p:cNvPr id="14" name="F14Type"/>
          <p:cNvSpPr/>
          <p:nvPr/>
        </p:nvSpPr>
        <p:spPr>
          <a:xfrm>
            <a:off x="6720840" y="1760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string</a:t>
            </a:r>
          </a:p>
        </p:txBody>
      </p:sp>
      <p:sp>
        <p:nvSpPr>
          <p:cNvPr id="15" name="F15Desc"/>
          <p:cNvSpPr/>
          <p:nvPr/>
        </p:nvSpPr>
        <p:spPr>
          <a:xfrm>
            <a:off x="4754880" y="19703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feat: / fix: / chore: prefix</a:t>
            </a:r>
          </a:p>
        </p:txBody>
      </p:sp>
      <p:sp>
        <p:nvSpPr>
          <p:cNvPr id="16" name="F16Name"/>
          <p:cNvSpPr/>
          <p:nvPr/>
        </p:nvSpPr>
        <p:spPr>
          <a:xfrm>
            <a:off x="4754880" y="2144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pr_body</a:t>
            </a:r>
          </a:p>
        </p:txBody>
      </p:sp>
      <p:sp>
        <p:nvSpPr>
          <p:cNvPr id="17" name="F17Type"/>
          <p:cNvSpPr/>
          <p:nvPr/>
        </p:nvSpPr>
        <p:spPr>
          <a:xfrm>
            <a:off x="6720840" y="214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string</a:t>
            </a:r>
          </a:p>
        </p:txBody>
      </p:sp>
      <p:sp>
        <p:nvSpPr>
          <p:cNvPr id="18" name="F18Desc"/>
          <p:cNvSpPr/>
          <p:nvPr/>
        </p:nvSpPr>
        <p:spPr>
          <a:xfrm>
            <a:off x="4754880" y="235436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full markdown — summary, changes, test plan</a:t>
            </a:r>
          </a:p>
        </p:txBody>
      </p:sp>
      <p:sp>
        <p:nvSpPr>
          <p:cNvPr id="19" name="F19Name"/>
          <p:cNvSpPr/>
          <p:nvPr/>
        </p:nvSpPr>
        <p:spPr>
          <a:xfrm>
            <a:off x="4754880" y="25280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</a:rPr>
              <a:t>follow_ups</a:t>
            </a:r>
          </a:p>
        </p:txBody>
      </p:sp>
      <p:sp>
        <p:nvSpPr>
          <p:cNvPr id="20" name="F20Type"/>
          <p:cNvSpPr/>
          <p:nvPr/>
        </p:nvSpPr>
        <p:spPr>
          <a:xfrm>
            <a:off x="6720840" y="2528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</a:rPr>
              <a:t>FollowUp[]</a:t>
            </a:r>
          </a:p>
        </p:txBody>
      </p:sp>
      <p:sp>
        <p:nvSpPr>
          <p:cNvPr id="21" name="F21Desc"/>
          <p:cNvSpPr/>
          <p:nvPr/>
        </p:nvSpPr>
        <p:spPr>
          <a:xfrm>
            <a:off x="4754880" y="27384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</a:rPr>
              <a:t>title, reason, priority — never an informal comment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1024128"/>
            <a:ext cx="8595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11155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34640" y="11155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15.3 (App Router)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6480" y="11155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+ API routes in one project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8595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64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/ Packages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Bun 1.1+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0" y="16642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installs, built-in test runner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21408"/>
            <a:ext cx="8595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128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212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 5, strict mode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26480" y="22128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handoffs enforced at compile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70048"/>
            <a:ext cx="8595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7614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 / Formatter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26480" y="2761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tool for lint + format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18688"/>
            <a:ext cx="8595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310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 Studio · Anthropic · OpenAI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26480" y="33101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providers — swappable per skill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767328"/>
            <a:ext cx="8595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858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Recovery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3858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jsonrepair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26480" y="3858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strip fences → repair — raw saved as .raw.txt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315968"/>
            <a:ext cx="8595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407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34640" y="44074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bun test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26480" y="44074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tests, 5 suites, real filesystem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57200" y="54864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Trebuchet MS" pitchFamily="34" charset="0"/>
              </a:rPr>
              <a:t>Event Streaming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Structured events emitted at every step — resumable from any point, auditable by design</a:t>
            </a:r>
          </a:p>
        </p:txBody>
      </p:sp>
      <p:sp>
        <p:nvSpPr>
          <p:cNvPr id="5" name="ColHdrBg"/>
          <p:cNvSpPr/>
          <p:nvPr/>
        </p:nvSpPr>
        <p:spPr>
          <a:xfrm>
            <a:off x="274320" y="1115568"/>
            <a:ext cx="8595360" cy="33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ColHdrEvent"/>
          <p:cNvSpPr/>
          <p:nvPr/>
        </p:nvSpPr>
        <p:spPr>
          <a:xfrm>
            <a:off x="438912" y="1133568"/>
            <a:ext cx="22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</a:rPr>
              <a:t>Event</a:t>
            </a:r>
          </a:p>
        </p:txBody>
      </p:sp>
      <p:sp>
        <p:nvSpPr>
          <p:cNvPr id="7" name="ColHdrPayload"/>
          <p:cNvSpPr/>
          <p:nvPr/>
        </p:nvSpPr>
        <p:spPr>
          <a:xfrm>
            <a:off x="2834640" y="11335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Trebuchet MS" pitchFamily="34" charset="0"/>
              </a:rPr>
              <a:t>Payload</a:t>
            </a:r>
          </a:p>
        </p:txBody>
      </p:sp>
      <p:sp>
        <p:nvSpPr>
          <p:cNvPr id="20" name="EvtBg0"/>
          <p:cNvSpPr/>
          <p:nvPr/>
        </p:nvSpPr>
        <p:spPr>
          <a:xfrm>
            <a:off x="274320" y="1445568"/>
            <a:ext cx="8595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EvtName0"/>
          <p:cNvSpPr/>
          <p:nvPr/>
        </p:nvSpPr>
        <p:spPr>
          <a:xfrm>
            <a:off x="438912" y="1537008"/>
            <a:ext cx="22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</a:rPr>
              <a:t>run:start</a:t>
            </a:r>
          </a:p>
        </p:txBody>
      </p:sp>
      <p:sp>
        <p:nvSpPr>
          <p:cNvPr id="22" name="EvtPayload0"/>
          <p:cNvSpPr/>
          <p:nvPr/>
        </p:nvSpPr>
        <p:spPr>
          <a:xfrm>
            <a:off x="2834640" y="15370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runId, ticketId, repoPath, provider</a:t>
            </a:r>
          </a:p>
        </p:txBody>
      </p:sp>
      <p:sp>
        <p:nvSpPr>
          <p:cNvPr id="23" name="EvtBg1"/>
          <p:cNvSpPr/>
          <p:nvPr/>
        </p:nvSpPr>
        <p:spPr>
          <a:xfrm>
            <a:off x="274320" y="1921056"/>
            <a:ext cx="8595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EvtName1"/>
          <p:cNvSpPr/>
          <p:nvPr/>
        </p:nvSpPr>
        <p:spPr>
          <a:xfrm>
            <a:off x="438912" y="2012496"/>
            <a:ext cx="22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</a:rPr>
              <a:t>step:start</a:t>
            </a:r>
          </a:p>
        </p:txBody>
      </p:sp>
      <p:sp>
        <p:nvSpPr>
          <p:cNvPr id="25" name="EvtPayload1"/>
          <p:cNvSpPr/>
          <p:nvPr/>
        </p:nvSpPr>
        <p:spPr>
          <a:xfrm>
            <a:off x="2834640" y="20124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step (1–5), name</a:t>
            </a:r>
          </a:p>
        </p:txBody>
      </p:sp>
      <p:sp>
        <p:nvSpPr>
          <p:cNvPr id="26" name="EvtBg2"/>
          <p:cNvSpPr/>
          <p:nvPr/>
        </p:nvSpPr>
        <p:spPr>
          <a:xfrm>
            <a:off x="274320" y="2396544"/>
            <a:ext cx="8595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EvtName2"/>
          <p:cNvSpPr/>
          <p:nvPr/>
        </p:nvSpPr>
        <p:spPr>
          <a:xfrm>
            <a:off x="438912" y="2487984"/>
            <a:ext cx="22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</a:rPr>
              <a:t>step:saved</a:t>
            </a:r>
          </a:p>
        </p:txBody>
      </p:sp>
      <p:sp>
        <p:nvSpPr>
          <p:cNvPr id="28" name="EvtPayload2"/>
          <p:cNvSpPr/>
          <p:nvPr/>
        </p:nvSpPr>
        <p:spPr>
          <a:xfrm>
            <a:off x="2834640" y="248798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step, name, file, data, tokens</a:t>
            </a:r>
          </a:p>
        </p:txBody>
      </p:sp>
      <p:sp>
        <p:nvSpPr>
          <p:cNvPr id="29" name="EvtBg3"/>
          <p:cNvSpPr/>
          <p:nvPr/>
        </p:nvSpPr>
        <p:spPr>
          <a:xfrm>
            <a:off x="274320" y="2872032"/>
            <a:ext cx="8595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EvtName3"/>
          <p:cNvSpPr/>
          <p:nvPr/>
        </p:nvSpPr>
        <p:spPr>
          <a:xfrm>
            <a:off x="438912" y="2963472"/>
            <a:ext cx="22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</a:rPr>
              <a:t>step:skipped</a:t>
            </a:r>
          </a:p>
        </p:txBody>
      </p:sp>
      <p:sp>
        <p:nvSpPr>
          <p:cNvPr id="31" name="EvtPayload3"/>
          <p:cNvSpPr/>
          <p:nvPr/>
        </p:nvSpPr>
        <p:spPr>
          <a:xfrm>
            <a:off x="2834640" y="29634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step, name</a:t>
            </a:r>
          </a:p>
        </p:txBody>
      </p:sp>
      <p:sp>
        <p:nvSpPr>
          <p:cNvPr id="32" name="EvtBg4"/>
          <p:cNvSpPr/>
          <p:nvPr/>
        </p:nvSpPr>
        <p:spPr>
          <a:xfrm>
            <a:off x="274320" y="3347520"/>
            <a:ext cx="8595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EvtName4"/>
          <p:cNvSpPr/>
          <p:nvPr/>
        </p:nvSpPr>
        <p:spPr>
          <a:xfrm>
            <a:off x="438912" y="3438960"/>
            <a:ext cx="22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</a:rPr>
              <a:t>file:written</a:t>
            </a:r>
          </a:p>
        </p:txBody>
      </p:sp>
      <p:sp>
        <p:nvSpPr>
          <p:cNvPr id="34" name="EvtPayload4"/>
          <p:cNvSpPr/>
          <p:nvPr/>
        </p:nvSpPr>
        <p:spPr>
          <a:xfrm>
            <a:off x="2834640" y="34389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filePath, linesAdded, linesRemoved, isNew</a:t>
            </a:r>
          </a:p>
        </p:txBody>
      </p:sp>
      <p:sp>
        <p:nvSpPr>
          <p:cNvPr id="35" name="EvtBg5"/>
          <p:cNvSpPr/>
          <p:nvPr/>
        </p:nvSpPr>
        <p:spPr>
          <a:xfrm>
            <a:off x="274320" y="3823008"/>
            <a:ext cx="8595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EvtName5"/>
          <p:cNvSpPr/>
          <p:nvPr/>
        </p:nvSpPr>
        <p:spPr>
          <a:xfrm>
            <a:off x="438912" y="3914448"/>
            <a:ext cx="22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urier New" pitchFamily="34" charset="0"/>
              </a:rPr>
              <a:t>run:done</a:t>
            </a:r>
          </a:p>
        </p:txBody>
      </p:sp>
      <p:sp>
        <p:nvSpPr>
          <p:cNvPr id="37" name="EvtPayload5"/>
          <p:cNvSpPr/>
          <p:nvPr/>
        </p:nvSpPr>
        <p:spPr>
          <a:xfrm>
            <a:off x="2834640" y="39144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prTitle, qaPassed, followUps, runDir</a:t>
            </a:r>
          </a:p>
        </p:txBody>
      </p:sp>
      <p:sp>
        <p:nvSpPr>
          <p:cNvPr id="38" name="EvtBg6"/>
          <p:cNvSpPr/>
          <p:nvPr/>
        </p:nvSpPr>
        <p:spPr>
          <a:xfrm>
            <a:off x="274320" y="4298496"/>
            <a:ext cx="859536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EvtName6"/>
          <p:cNvSpPr/>
          <p:nvPr/>
        </p:nvSpPr>
        <p:spPr>
          <a:xfrm>
            <a:off x="438912" y="4389936"/>
            <a:ext cx="22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urier New" pitchFamily="34" charset="0"/>
              </a:rPr>
              <a:t>run:error</a:t>
            </a:r>
          </a:p>
        </p:txBody>
      </p:sp>
      <p:sp>
        <p:nvSpPr>
          <p:cNvPr id="40" name="EvtPayload6"/>
          <p:cNvSpPr/>
          <p:nvPr/>
        </p:nvSpPr>
        <p:spPr>
          <a:xfrm>
            <a:off x="2834640" y="438993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</a:rPr>
              <a:t>message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 Tests. Zero Mocks.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test  ·  5 suites  ·  real filesystem behavior, no stubs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61872"/>
            <a:ext cx="804672" cy="64008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61872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07008" y="133502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highlight.test.ts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07008" y="162763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highlight() branches — primitives, arrays, objects, HTML escaping, nesting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804672" cy="64008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3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11680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07008" y="20848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stepSummary.test.ts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07008" y="237744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getStepSummary — all 5 step types, edge cases, empty inputs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61488"/>
            <a:ext cx="804672" cy="64008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61488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07008" y="28346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repoUtils.test.ts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07008" y="312724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lineDiff, readFiles, writeFiles — diff counts, missing files, directory creation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511296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511296"/>
            <a:ext cx="804672" cy="64008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11296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07008" y="3584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pipe.test.ts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07008" y="387705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loadGitignoreNames, getRepoStructure — gitignore parsing, depth limit, sort order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61104"/>
            <a:ext cx="8595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61104"/>
            <a:ext cx="804672" cy="64008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6110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07008" y="43342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runner.test.ts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07008" y="462686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runSkill — JSON parse fallbacks, jsonrepair recovery, event emission, provider factory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82753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15568"/>
            <a:ext cx="54864" cy="8046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88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as the unit of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536192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is independently invocable and owns exactly one responsibility. Every boundary is a decision you can explain.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048256"/>
            <a:ext cx="82753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048256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121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Compression is not loss — it's 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46888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drop at each handoff is as important as what you send. Blinding a step to upstream context shapes its behavior.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980944"/>
            <a:ext cx="82753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80944"/>
            <a:ext cx="54864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0540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Disk is ground truth, not model claims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40156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qa-gate re-reads files from disk after code-write runs. The model cannot lie about what it wrote.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913632"/>
            <a:ext cx="827532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913632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9867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outputs, not informal promises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4334256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follow_ups is a typed JSON field. A field either has entries or has []. An informal comment reply can disappear.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658368" y="2194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Trebuchet MS" pitchFamily="34" charset="0"/>
              </a:rPr>
              <a:t>What to Optimize Next</a:t>
            </a:r>
          </a:p>
        </p:txBody>
      </p:sp>
      <p:sp>
        <p:nvSpPr>
          <p:cNvPr id="4" name="Subtitle"/>
          <p:cNvSpPr/>
          <p:nvPr/>
        </p:nvSpPr>
        <p:spPr>
          <a:xfrm>
            <a:off x="658368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</a:rPr>
              <a:t>Five improvements that would meaningfully raise the pipeline’s ceiling</a:t>
            </a:r>
          </a:p>
        </p:txBody>
      </p:sp>
      <p:sp>
        <p:nvSpPr>
          <p:cNvPr id="10" name="CB10"/>
          <p:cNvSpPr/>
          <p:nvPr/>
        </p:nvSpPr>
        <p:spPr>
          <a:xfrm>
            <a:off x="594360" y="1100000"/>
            <a:ext cx="3870000" cy="11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CA10"/>
          <p:cNvSpPr/>
          <p:nvPr/>
        </p:nvSpPr>
        <p:spPr>
          <a:xfrm>
            <a:off x="594360" y="1100000"/>
            <a:ext cx="54864" cy="1100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CH10"/>
          <p:cNvSpPr/>
          <p:nvPr/>
        </p:nvSpPr>
        <p:spPr>
          <a:xfrm>
            <a:off x="741240" y="1160000"/>
            <a:ext cx="367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</a:rPr>
              <a:t>Change the LLMs based on the step</a:t>
            </a:r>
          </a:p>
        </p:txBody>
      </p:sp>
      <p:sp>
        <p:nvSpPr>
          <p:cNvPr id="13" name="CBody10"/>
          <p:cNvSpPr/>
          <p:nvPr/>
        </p:nvSpPr>
        <p:spPr>
          <a:xfrm>
            <a:off x="741240" y="1420000"/>
            <a:ext cx="367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spec-freeze → Haiku  (format task, cheap)
impl-scout → Sonnet  (codebase reasoning)
code-write → Opus  (frontier writing)
qa-gate → Sonnet  (verification)
pr-package → Haiku  (format task, cheap)
The common LLMProvider interface makes this a config change per skill — no rewrite needed.</a:t>
            </a:r>
          </a:p>
        </p:txBody>
      </p:sp>
      <p:sp>
        <p:nvSpPr>
          <p:cNvPr id="20" name="CB20"/>
          <p:cNvSpPr/>
          <p:nvPr/>
        </p:nvSpPr>
        <p:spPr>
          <a:xfrm>
            <a:off x="594360" y="2275000"/>
            <a:ext cx="3870000" cy="14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CA20"/>
          <p:cNvSpPr/>
          <p:nvPr/>
        </p:nvSpPr>
        <p:spPr>
          <a:xfrm>
            <a:off x="594360" y="2275000"/>
            <a:ext cx="54864" cy="1400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CH20"/>
          <p:cNvSpPr/>
          <p:nvPr/>
        </p:nvSpPr>
        <p:spPr>
          <a:xfrm>
            <a:off x="741240" y="2335000"/>
            <a:ext cx="367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</a:rPr>
              <a:t>Connect with Vercel Workflows</a:t>
            </a:r>
          </a:p>
        </p:txBody>
      </p:sp>
      <p:sp>
        <p:nvSpPr>
          <p:cNvPr id="23" name="CBody20"/>
          <p:cNvSpPr/>
          <p:nvPr/>
        </p:nvSpPr>
        <p:spPr>
          <a:xfrm>
            <a:off x="741240" y="2595000"/>
            <a:ext cx="367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Use Vercel Workflows (vercel.com/workflows) to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track, monitor, and measure the pipeline’s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performance over time.</a:t>
            </a:r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Wire up connectors for the full cycle: a ticket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system (Linear, Jira) feeds spec-freeze input;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GitHub receives pr-package output as a PR.</a:t>
            </a:r>
          </a:p>
        </p:txBody>
      </p:sp>
      <p:sp>
        <p:nvSpPr>
          <p:cNvPr id="30" name="CB30"/>
          <p:cNvSpPr/>
          <p:nvPr/>
        </p:nvSpPr>
        <p:spPr>
          <a:xfrm>
            <a:off x="594360" y="3750000"/>
            <a:ext cx="3870000" cy="11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CA30"/>
          <p:cNvSpPr/>
          <p:nvPr/>
        </p:nvSpPr>
        <p:spPr>
          <a:xfrm>
            <a:off x="594360" y="3750000"/>
            <a:ext cx="54864" cy="1100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CH30"/>
          <p:cNvSpPr/>
          <p:nvPr/>
        </p:nvSpPr>
        <p:spPr>
          <a:xfrm>
            <a:off x="741240" y="3810000"/>
            <a:ext cx="367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</a:rPr>
              <a:t>Improve the event system</a:t>
            </a:r>
          </a:p>
        </p:txBody>
      </p:sp>
      <p:sp>
        <p:nvSpPr>
          <p:cNvPr id="33" name="CBody30"/>
          <p:cNvSpPr/>
          <p:nvPr/>
        </p:nvSpPr>
        <p:spPr>
          <a:xfrm>
            <a:off x="741240" y="4070000"/>
            <a:ext cx="367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Replace SSE with a persistent event log. Add reconnect-and-resume, per-step replay, and typed subscriber hooks. Network interruptions currently lose run state — a durable log makes every run recoverable and auditable.</a:t>
            </a:r>
          </a:p>
        </p:txBody>
      </p:sp>
      <p:sp>
        <p:nvSpPr>
          <p:cNvPr id="40" name="CB40"/>
          <p:cNvSpPr/>
          <p:nvPr/>
        </p:nvSpPr>
        <p:spPr>
          <a:xfrm>
            <a:off x="4664360" y="1100000"/>
            <a:ext cx="3870000" cy="17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CA40"/>
          <p:cNvSpPr/>
          <p:nvPr/>
        </p:nvSpPr>
        <p:spPr>
          <a:xfrm>
            <a:off x="4664360" y="1100000"/>
            <a:ext cx="54864" cy="1700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CH40"/>
          <p:cNvSpPr/>
          <p:nvPr/>
        </p:nvSpPr>
        <p:spPr>
          <a:xfrm>
            <a:off x="4811240" y="1160000"/>
            <a:ext cx="367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</a:rPr>
              <a:t>Have retry processes</a:t>
            </a:r>
          </a:p>
        </p:txBody>
      </p:sp>
      <p:sp>
        <p:nvSpPr>
          <p:cNvPr id="43" name="CBody40"/>
          <p:cNvSpPr/>
          <p:nvPr/>
        </p:nvSpPr>
        <p:spPr>
          <a:xfrm>
            <a:off x="4811240" y="1420000"/>
            <a:ext cx="367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Auto-retry failed LLM calls with exponential backoff. Make max_retries configurable per step. On exhaustion, emit run:error and persist partial run state so the run can be resumed from the failed step without re-running earlier ones.
Steps with side effects (file writes) need idempotency guards so retries don’t corrupt already-written output.</a:t>
            </a:r>
          </a:p>
        </p:txBody>
      </p:sp>
      <p:sp>
        <p:nvSpPr>
          <p:cNvPr id="50" name="CB50"/>
          <p:cNvSpPr/>
          <p:nvPr/>
        </p:nvSpPr>
        <p:spPr>
          <a:xfrm>
            <a:off x="4664360" y="2850000"/>
            <a:ext cx="3870000" cy="170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CA50"/>
          <p:cNvSpPr/>
          <p:nvPr/>
        </p:nvSpPr>
        <p:spPr>
          <a:xfrm>
            <a:off x="4664360" y="2850000"/>
            <a:ext cx="54864" cy="17000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2" name="CH50"/>
          <p:cNvSpPr/>
          <p:nvPr/>
        </p:nvSpPr>
        <p:spPr>
          <a:xfrm>
            <a:off x="4811240" y="2910000"/>
            <a:ext cx="367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Trebuchet MS" pitchFamily="34" charset="0"/>
              </a:rPr>
              <a:t>Pre-approval before key steps</a:t>
            </a:r>
          </a:p>
        </p:txBody>
      </p:sp>
      <p:sp>
        <p:nvSpPr>
          <p:cNvPr id="53" name="CBody50"/>
          <p:cNvSpPr/>
          <p:nvPr/>
        </p:nvSpPr>
        <p:spPr>
          <a:xfrm>
            <a:off x="4811240" y="3170000"/>
            <a:ext cx="3670000" cy="1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Pause after spec-freeze and impl-scout and emit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step:approval_required. The UI shows the artifact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and waits for explicit confirmation.</a:t>
            </a:r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Prevents cascading errors from a bad spec or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flawed file map before code gets written.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Both steps are cheap to re-run if the human</a:t>
            </a:r>
          </a:p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</a:rPr>
              <a:t>requests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4" name="Title"/>
          <p:cNvSpPr/>
          <p:nvPr/>
        </p:nvSpPr>
        <p:spPr>
          <a:xfrm>
            <a:off x="300000" y="200000"/>
            <a:ext cx="8544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Trebuchet MS" pitchFamily="34" charset="0"/>
              </a:rPr>
              <a:t>CLI &amp; Claude Code Integration</a:t>
            </a:r>
          </a:p>
        </p:txBody>
      </p:sp>
      <p:sp>
        <p:nvSpPr>
          <p:cNvPr id="5" name="Subtitle"/>
          <p:cNvSpPr/>
          <p:nvPr/>
        </p:nvSpPr>
        <p:spPr>
          <a:xfrm>
            <a:off x="300000" y="610000"/>
            <a:ext cx="8544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</a:rPr>
              <a:t>Trigger the full pipeline or individual steps from the terminal or Claude Code</a:t>
            </a:r>
          </a:p>
        </p:txBody>
      </p:sp>
      <p:sp>
        <p:nvSpPr>
          <p:cNvPr id="6" name="Divider"/>
          <p:cNvSpPr/>
          <p:nvPr/>
        </p:nvSpPr>
        <p:spPr>
          <a:xfrm>
            <a:off x="300000" y="860000"/>
            <a:ext cx="8544000" cy="1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0" name="LHdr"/>
          <p:cNvSpPr/>
          <p:nvPr/>
        </p:nvSpPr>
        <p:spPr>
          <a:xfrm>
            <a:off x="300000" y="930000"/>
            <a:ext cx="41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</a:rPr>
              <a:t>Terminal</a:t>
            </a:r>
          </a:p>
        </p:txBody>
      </p:sp>
      <p:sp>
        <p:nvSpPr>
          <p:cNvPr id="11" name="CmdBG1"/>
          <p:cNvSpPr/>
          <p:nvPr/>
        </p:nvSpPr>
        <p:spPr>
          <a:xfrm>
            <a:off x="300000" y="1210000"/>
            <a:ext cx="4100000" cy="7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2" name="CmdAcc1"/>
          <p:cNvSpPr/>
          <p:nvPr/>
        </p:nvSpPr>
        <p:spPr>
          <a:xfrm>
            <a:off x="300000" y="1210000"/>
            <a:ext cx="27432" cy="70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3" name="CmdContent1"/>
          <p:cNvSpPr/>
          <p:nvPr/>
        </p:nvSpPr>
        <p:spPr>
          <a:xfrm>
            <a:off x="377432" y="1240000"/>
            <a:ext cx="398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</a:rPr>
              <a:t>Run full pipeline from a ticket</a:t>
            </a:r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49" charset="0"/>
              </a:rPr>
              <a:t>$</a:t>
            </a:r>
            <a:r>
              <a:rPr lang="en-US" sz="1100" dirty="0">
                <a:solidFill>
                  <a:srgbClr val="F1F5F9"/>
                </a:solidFill>
                <a:latin typeface="Consolas" pitchFamily="49" charset="0"/>
              </a:rPr>
              <a:t xml:space="preserve"> pipeline run --ticket LINEAR-123</a:t>
            </a:r>
          </a:p>
        </p:txBody>
      </p:sp>
      <p:sp>
        <p:nvSpPr>
          <p:cNvPr id="15" name="CmdBG2"/>
          <p:cNvSpPr/>
          <p:nvPr/>
        </p:nvSpPr>
        <p:spPr>
          <a:xfrm>
            <a:off x="300000" y="1970000"/>
            <a:ext cx="4100000" cy="75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16" name="CmdAcc2"/>
          <p:cNvSpPr/>
          <p:nvPr/>
        </p:nvSpPr>
        <p:spPr>
          <a:xfrm>
            <a:off x="300000" y="1970000"/>
            <a:ext cx="27432" cy="7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7" name="CmdContent2"/>
          <p:cNvSpPr/>
          <p:nvPr/>
        </p:nvSpPr>
        <p:spPr>
          <a:xfrm>
            <a:off x="377432" y="2000000"/>
            <a:ext cx="3980000" cy="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</a:rPr>
              <a:t>Run a single step</a:t>
            </a:r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49" charset="0"/>
              </a:rPr>
              <a:t>$</a:t>
            </a:r>
            <a:r>
              <a:rPr lang="en-US" sz="1100" dirty="0">
                <a:solidFill>
                  <a:srgbClr val="F1F5F9"/>
                </a:solidFill>
                <a:latin typeface="Consolas" pitchFamily="49" charset="0"/>
              </a:rPr>
              <a:t xml:space="preserve"> pipeline run --step spec-freeze \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49" charset="0"/>
              </a:rPr>
              <a:t xml:space="preserve">              --ticket LINEAR-123</a:t>
            </a:r>
          </a:p>
        </p:txBody>
      </p:sp>
      <p:sp>
        <p:nvSpPr>
          <p:cNvPr id="19" name="CmdBG3"/>
          <p:cNvSpPr/>
          <p:nvPr/>
        </p:nvSpPr>
        <p:spPr>
          <a:xfrm>
            <a:off x="300000" y="2780000"/>
            <a:ext cx="4100000" cy="75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0" name="CmdAcc3"/>
          <p:cNvSpPr/>
          <p:nvPr/>
        </p:nvSpPr>
        <p:spPr>
          <a:xfrm>
            <a:off x="300000" y="2780000"/>
            <a:ext cx="27432" cy="75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1" name="CmdContent3"/>
          <p:cNvSpPr/>
          <p:nvPr/>
        </p:nvSpPr>
        <p:spPr>
          <a:xfrm>
            <a:off x="377432" y="2810000"/>
            <a:ext cx="3980000" cy="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</a:rPr>
              <a:t>Resume from a failed step</a:t>
            </a:r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49" charset="0"/>
              </a:rPr>
              <a:t>$</a:t>
            </a:r>
            <a:r>
              <a:rPr lang="en-US" sz="1100" dirty="0">
                <a:solidFill>
                  <a:srgbClr val="F1F5F9"/>
                </a:solidFill>
                <a:latin typeface="Consolas" pitchFamily="49" charset="0"/>
              </a:rPr>
              <a:t xml:space="preserve"> pipeline resume --run-id &lt;uuid&gt; \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49" charset="0"/>
              </a:rPr>
              <a:t xml:space="preserve">              --from qa-gate</a:t>
            </a:r>
          </a:p>
        </p:txBody>
      </p:sp>
      <p:sp>
        <p:nvSpPr>
          <p:cNvPr id="23" name="CmdBG4"/>
          <p:cNvSpPr/>
          <p:nvPr/>
        </p:nvSpPr>
        <p:spPr>
          <a:xfrm>
            <a:off x="300000" y="3590000"/>
            <a:ext cx="4100000" cy="7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24" name="CmdAcc4"/>
          <p:cNvSpPr/>
          <p:nvPr/>
        </p:nvSpPr>
        <p:spPr>
          <a:xfrm>
            <a:off x="300000" y="3590000"/>
            <a:ext cx="27432" cy="70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25" name="CmdContent4"/>
          <p:cNvSpPr/>
          <p:nvPr/>
        </p:nvSpPr>
        <p:spPr>
          <a:xfrm>
            <a:off x="377432" y="3620000"/>
            <a:ext cx="398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</a:rPr>
              <a:t>Inspect recent runs</a:t>
            </a:r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49" charset="0"/>
              </a:rPr>
              <a:t>$</a:t>
            </a:r>
            <a:r>
              <a:rPr lang="en-US" sz="1100" dirty="0">
                <a:solidFill>
                  <a:srgbClr val="F1F5F9"/>
                </a:solidFill>
                <a:latin typeface="Consolas" pitchFamily="49" charset="0"/>
              </a:rPr>
              <a:t xml:space="preserve"> pipeline runs --limit 10 --status failed</a:t>
            </a:r>
          </a:p>
        </p:txBody>
      </p:sp>
      <p:sp>
        <p:nvSpPr>
          <p:cNvPr id="30" name="VDiv"/>
          <p:cNvSpPr/>
          <p:nvPr/>
        </p:nvSpPr>
        <p:spPr>
          <a:xfrm>
            <a:off x="4530000" y="930000"/>
            <a:ext cx="18000" cy="39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1" name="RHdr"/>
          <p:cNvSpPr/>
          <p:nvPr/>
        </p:nvSpPr>
        <p:spPr>
          <a:xfrm>
            <a:off x="4700000" y="930000"/>
            <a:ext cx="415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</a:rPr>
              <a:t>Claude Code</a:t>
            </a:r>
          </a:p>
        </p:txBody>
      </p:sp>
      <p:sp>
        <p:nvSpPr>
          <p:cNvPr id="32" name="CCBg1"/>
          <p:cNvSpPr/>
          <p:nvPr/>
        </p:nvSpPr>
        <p:spPr>
          <a:xfrm>
            <a:off x="4700000" y="1210000"/>
            <a:ext cx="4150000" cy="7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3" name="CCAcc1"/>
          <p:cNvSpPr/>
          <p:nvPr/>
        </p:nvSpPr>
        <p:spPr>
          <a:xfrm>
            <a:off x="4700000" y="1210000"/>
            <a:ext cx="27432" cy="70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4" name="CCContent1"/>
          <p:cNvSpPr/>
          <p:nvPr/>
        </p:nvSpPr>
        <p:spPr>
          <a:xfrm>
            <a:off x="4777432" y="1240000"/>
            <a:ext cx="402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</a:rPr>
              <a:t>Slash command in a conversation</a:t>
            </a:r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49" charset="0"/>
              </a:rPr>
              <a:t>&gt;</a:t>
            </a:r>
            <a:r>
              <a:rPr lang="en-US" sz="1100" dirty="0">
                <a:solidFill>
                  <a:srgbClr val="F1F5F9"/>
                </a:solidFill>
                <a:latin typeface="Consolas" pitchFamily="49" charset="0"/>
              </a:rPr>
              <a:t xml:space="preserve"> /pipeline run --ticket LINEAR-123</a:t>
            </a:r>
          </a:p>
        </p:txBody>
      </p:sp>
      <p:sp>
        <p:nvSpPr>
          <p:cNvPr id="36" name="CCBg2"/>
          <p:cNvSpPr/>
          <p:nvPr/>
        </p:nvSpPr>
        <p:spPr>
          <a:xfrm>
            <a:off x="4700000" y="1970000"/>
            <a:ext cx="4150000" cy="83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</p:sp>
      <p:sp>
        <p:nvSpPr>
          <p:cNvPr id="37" name="CCAcc2"/>
          <p:cNvSpPr/>
          <p:nvPr/>
        </p:nvSpPr>
        <p:spPr>
          <a:xfrm>
            <a:off x="4700000" y="1970000"/>
            <a:ext cx="27432" cy="83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8" name="CCContent2"/>
          <p:cNvSpPr/>
          <p:nvPr/>
        </p:nvSpPr>
        <p:spPr>
          <a:xfrm>
            <a:off x="4777432" y="2000000"/>
            <a:ext cx="402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</a:rPr>
              <a:t>Expose as an MCP tool</a:t>
            </a:r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49" charset="0"/>
              </a:rPr>
              <a:t>mcp__pipeline__run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49" charset="0"/>
              </a:rPr>
              <a:t xml:space="preserve">  ticket: "LINEAR-123"</a:t>
            </a:r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49" charset="0"/>
              </a:rPr>
              <a:t xml:space="preserve">  steps: ["spec-freeze", "impl-scout"]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dev-loop-pipeline</dc:title>
  <dc:subject>PptxGenJS Presentation</dc:subject>
  <dc:creator>Francisco</dc:creator>
  <cp:lastModifiedBy>Francisco</cp:lastModifiedBy>
  <cp:revision>1</cp:revision>
  <dcterms:created xsi:type="dcterms:W3CDTF">2026-05-05T09:38:13Z</dcterms:created>
  <dcterms:modified xsi:type="dcterms:W3CDTF">2026-05-05T09:38:13Z</dcterms:modified>
</cp:coreProperties>
</file>